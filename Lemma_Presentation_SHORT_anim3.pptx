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3" r:id="rId5"/>
    <p:sldId id="270" r:id="rId6"/>
    <p:sldId id="273" r:id="rId7"/>
    <p:sldId id="275" r:id="rId8"/>
    <p:sldId id="27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9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52" y="-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3896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gif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21040" y="-1737360"/>
            <a:ext cx="5120640" cy="512064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4023360"/>
            <a:ext cx="3840480" cy="3840480"/>
          </a:xfrm>
          <a:prstGeom prst="ellipse">
            <a:avLst/>
          </a:prstGeom>
          <a:solidFill>
            <a:srgbClr val="6D28D9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5074920"/>
            <a:ext cx="1143000" cy="1024128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2B705"/>
            </a:solidFill>
            <a:prstDash val="solid"/>
          </a:ln>
        </p:spPr>
      </p:sp>
      <p:pic>
        <p:nvPicPr>
          <p:cNvPr id="5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692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530352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Геометрия становится понятной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40080" y="3456432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50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ИИ-репетитор и 2D / 3D CAD по геометрии для учеников 7–12 </a:t>
            </a:r>
            <a:r>
              <a:rPr lang="en-US" sz="1750" dirty="0" err="1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классов</a:t>
            </a:r>
            <a:r>
              <a:rPr lang="ru-RU" sz="1750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(и не только)</a:t>
            </a:r>
            <a:r>
              <a:rPr lang="en-US" sz="1750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40080" y="43708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Решай</a:t>
            </a:r>
            <a:r>
              <a:rPr lang="en-US" sz="1900" dirty="0">
                <a:solidFill>
                  <a:srgbClr val="8E8C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</a:t>
            </a:r>
            <a:r>
              <a:rPr lang="en-US" sz="19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Черти</a:t>
            </a:r>
            <a:r>
              <a:rPr lang="en-US" sz="1900" dirty="0">
                <a:solidFill>
                  <a:srgbClr val="8E8C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·  </a:t>
            </a:r>
            <a:r>
              <a:rPr lang="en-US" sz="19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Понимай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640080" y="5138928"/>
            <a:ext cx="1737360" cy="32004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53949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40080" y="5614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Андраник Хуршудян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931920" y="539496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РУКОВОДИТЕЛЬ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31920" y="56144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dirty="0">
                <a:solidFill>
                  <a:schemeClr val="bg1"/>
                </a:solidFill>
              </a:rPr>
              <a:t>Ким </a:t>
            </a:r>
            <a:r>
              <a:rPr lang="ru-RU" sz="1400" dirty="0" err="1">
                <a:solidFill>
                  <a:schemeClr val="bg1"/>
                </a:solidFill>
              </a:rPr>
              <a:t>Дургарян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5" name="Text 12"/>
          <p:cNvSpPr/>
          <p:nvPr/>
        </p:nvSpPr>
        <p:spPr>
          <a:xfrm>
            <a:off x="640080" y="5998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ГОРОД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40080" y="6217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Дилижан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931920" y="59984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ПЛОЩАДКА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931920" y="621792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UWC Dilijan College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635240" y="1371600"/>
            <a:ext cx="3977640" cy="3002182"/>
          </a:xfrm>
          <a:prstGeom prst="roundRect">
            <a:avLst>
              <a:gd name="adj" fmla="val 2437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pic>
        <p:nvPicPr>
          <p:cNvPr id="20" name="Image 1" descr="C:/Users/user/AppData/Local/Temp/claude/d--Code-App-Lemma/b38f51bd-7d9d-49a0-8a1c-6c4ec3fef80f/scratchpad/deckbuild/assets/shot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4968" y="1481328"/>
            <a:ext cx="3758184" cy="27827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3891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3167" y="384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475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ПРОБЛЕМА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41248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Геометрия — самый сложный школьный предмет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8686800" y="1234440"/>
            <a:ext cx="2926080" cy="2223561"/>
          </a:xfrm>
          <a:prstGeom prst="roundRect">
            <a:avLst>
              <a:gd name="adj" fmla="val 329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pic>
        <p:nvPicPr>
          <p:cNvPr id="7" name="Image 1" descr="C:/Users/user/AppData/Local/Temp/claude/d--Code-App-Lemma/b38f51bd-7d9d-49a0-8a1c-6c4ec3fef80f/scratchpad/deckbuild/assets/shot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1344168"/>
            <a:ext cx="2706624" cy="200410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40080" y="32004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40080" y="3493008"/>
            <a:ext cx="82296" cy="1700784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10" name="Text 6"/>
          <p:cNvSpPr/>
          <p:nvPr/>
        </p:nvSpPr>
        <p:spPr>
          <a:xfrm>
            <a:off x="932688" y="3383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70 %</a:t>
            </a:r>
            <a:endParaRPr lang="en-US" sz="4600" dirty="0"/>
          </a:p>
        </p:txBody>
      </p:sp>
      <p:sp>
        <p:nvSpPr>
          <p:cNvPr id="11" name="Text 7"/>
          <p:cNvSpPr/>
          <p:nvPr/>
        </p:nvSpPr>
        <p:spPr>
          <a:xfrm>
            <a:off x="932688" y="4279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школьников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32688" y="4663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испытывают трудности с доказательствами и построениями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462272" y="32004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462272" y="3493008"/>
            <a:ext cx="82296" cy="1700784"/>
          </a:xfrm>
          <a:prstGeom prst="rect">
            <a:avLst/>
          </a:prstGeom>
          <a:solidFill>
            <a:srgbClr val="1BA5C4"/>
          </a:solidFill>
          <a:ln/>
        </p:spPr>
      </p:sp>
      <p:sp>
        <p:nvSpPr>
          <p:cNvPr id="15" name="Text 11"/>
          <p:cNvSpPr/>
          <p:nvPr/>
        </p:nvSpPr>
        <p:spPr>
          <a:xfrm>
            <a:off x="4754880" y="3383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48 %</a:t>
            </a:r>
            <a:endParaRPr lang="en-US" sz="4600" dirty="0"/>
          </a:p>
        </p:txBody>
      </p:sp>
      <p:sp>
        <p:nvSpPr>
          <p:cNvPr id="16" name="Text 12"/>
          <p:cNvSpPr/>
          <p:nvPr/>
        </p:nvSpPr>
        <p:spPr>
          <a:xfrm>
            <a:off x="4754880" y="4279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учителей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754880" y="4663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успевают объяснить решение каждому индивидуально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8284464" y="32004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84464" y="3493008"/>
            <a:ext cx="82296" cy="1700784"/>
          </a:xfrm>
          <a:prstGeom prst="rect">
            <a:avLst/>
          </a:prstGeom>
          <a:solidFill>
            <a:srgbClr val="312E81"/>
          </a:solidFill>
          <a:ln/>
        </p:spPr>
      </p:sp>
      <p:sp>
        <p:nvSpPr>
          <p:cNvPr id="20" name="Text 16"/>
          <p:cNvSpPr/>
          <p:nvPr/>
        </p:nvSpPr>
        <p:spPr>
          <a:xfrm>
            <a:off x="8577072" y="3383280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85 %</a:t>
            </a:r>
            <a:endParaRPr lang="en-US" sz="4600" dirty="0"/>
          </a:p>
        </p:txBody>
      </p:sp>
      <p:sp>
        <p:nvSpPr>
          <p:cNvPr id="21" name="Text 17"/>
          <p:cNvSpPr/>
          <p:nvPr/>
        </p:nvSpPr>
        <p:spPr>
          <a:xfrm>
            <a:off x="8577072" y="4279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родителей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577072" y="46634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могут помочь ребёнку с геометрическими задачами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640080" y="5806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312E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Существующие приложения дают ответ, но не учат думать.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828800"/>
            <a:ext cx="4389120" cy="4389120"/>
          </a:xfrm>
          <a:prstGeom prst="ellipse">
            <a:avLst/>
          </a:prstGeom>
          <a:solidFill>
            <a:srgbClr val="312E81"/>
          </a:solidFill>
          <a:ln/>
        </p:spPr>
      </p:sp>
      <p:pic>
        <p:nvPicPr>
          <p:cNvPr id="3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38912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253167" y="384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5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РЕШЕНИЕ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9601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это умный геометр</a:t>
            </a:r>
            <a:endParaRPr lang="en-US" sz="3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 тебя в кармане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612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не просто находит ответ — оно объясняет каждый шаг и строит наглядный чертёж.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27245C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3648456"/>
            <a:ext cx="457200" cy="45720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4124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3630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59536" y="408736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3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Точный пошаговый ответ с полным разбором логики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931920" y="342900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27245C"/>
          </a:solidFill>
          <a:ln/>
        </p:spPr>
      </p:sp>
      <p:sp>
        <p:nvSpPr>
          <p:cNvPr id="14" name="Shape 11"/>
          <p:cNvSpPr/>
          <p:nvPr/>
        </p:nvSpPr>
        <p:spPr>
          <a:xfrm>
            <a:off x="4133088" y="3648456"/>
            <a:ext cx="457200" cy="45720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133088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709160" y="3630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Объяснение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151376" y="408736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3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Понятные комментарии к каждому действию и теореме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9834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27245C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248" y="5202936"/>
            <a:ext cx="457200" cy="45720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41248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17320" y="5184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Чертёж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59536" y="564184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3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Автоматическое построение и подсветка элементов задачи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3931920" y="4983480"/>
            <a:ext cx="3017520" cy="1325880"/>
          </a:xfrm>
          <a:prstGeom prst="roundRect">
            <a:avLst>
              <a:gd name="adj" fmla="val 5517"/>
            </a:avLst>
          </a:prstGeom>
          <a:solidFill>
            <a:srgbClr val="27245C"/>
          </a:solidFill>
          <a:ln/>
        </p:spPr>
      </p:sp>
      <p:sp>
        <p:nvSpPr>
          <p:cNvPr id="24" name="Shape 21"/>
          <p:cNvSpPr/>
          <p:nvPr/>
        </p:nvSpPr>
        <p:spPr>
          <a:xfrm>
            <a:off x="4133088" y="5202936"/>
            <a:ext cx="457200" cy="457200"/>
          </a:xfrm>
          <a:prstGeom prst="ellipse">
            <a:avLst/>
          </a:prstGeom>
          <a:solidFill>
            <a:srgbClr val="F2B705"/>
          </a:solidFill>
          <a:ln/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133088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4709160" y="51846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Обучение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4151376" y="5641848"/>
            <a:ext cx="2596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3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Превращает зубрёжку формул в осознанное понимание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269480" y="1783080"/>
            <a:ext cx="4297680" cy="2768346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pic>
        <p:nvPicPr>
          <p:cNvPr id="29" name="Image 1" descr="C:/Users/user/AppData/Local/Temp/claude/d--Code-App-Lemma/b38f51bd-7d9d-49a0-8a1c-6c4ec3fef80f/scratchpad/deckbuild/assets/shot_solver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986" y="1892808"/>
            <a:ext cx="3946668" cy="25488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3891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3167" y="384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475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В ДЕЙСТВИИ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41248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 в действии</a:t>
            </a:r>
            <a:endParaRPr lang="en-US" sz="3300" dirty="0"/>
          </a:p>
        </p:txBody>
      </p:sp>
      <p:pic>
        <p:nvPicPr>
          <p:cNvPr id="100" name="demo10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4065" y="1917808"/>
            <a:ext cx="2941935" cy="1900000"/>
          </a:xfrm>
          <a:prstGeom prst="rect">
            <a:avLst/>
          </a:prstGeom>
        </p:spPr>
      </p:pic>
      <p:sp>
        <p:nvSpPr>
          <p:cNvPr id="101" name="lab101"/>
          <p:cNvSpPr/>
          <p:nvPr/>
        </p:nvSpPr>
        <p:spPr>
          <a:xfrm>
            <a:off x="2846000" y="402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ru-RU" sz="1150" b="1" dirty="0">
                <a:solidFill>
                  <a:srgbClr val="6D28D9"/>
                </a:solidFill>
                <a:latin typeface="Calibri"/>
              </a:rPr>
              <a:t>Решение задач </a:t>
            </a:r>
            <a:r>
              <a:rPr lang="ru-RU" sz="1150" dirty="0">
                <a:solidFill>
                  <a:srgbClr val="1E1B4B"/>
                </a:solidFill>
                <a:latin typeface="Calibri"/>
              </a:rPr>
              <a:t>— каждый шаг + наглядный чертёж</a:t>
            </a:r>
          </a:p>
        </p:txBody>
      </p:sp>
      <p:pic>
        <p:nvPicPr>
          <p:cNvPr id="102" name="demo1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6399" y="2080000"/>
            <a:ext cx="2359201" cy="1900000"/>
          </a:xfrm>
          <a:prstGeom prst="rect">
            <a:avLst/>
          </a:prstGeom>
        </p:spPr>
      </p:pic>
      <p:sp>
        <p:nvSpPr>
          <p:cNvPr id="103" name="lab103"/>
          <p:cNvSpPr/>
          <p:nvPr/>
        </p:nvSpPr>
        <p:spPr>
          <a:xfrm>
            <a:off x="6346000" y="402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ru-RU" sz="1150" b="1" dirty="0">
                <a:solidFill>
                  <a:srgbClr val="6D28D9"/>
                </a:solidFill>
                <a:latin typeface="Calibri"/>
              </a:rPr>
              <a:t>2D-черчение </a:t>
            </a:r>
            <a:r>
              <a:rPr lang="ru-RU" sz="1150" dirty="0">
                <a:solidFill>
                  <a:srgbClr val="1E1B4B"/>
                </a:solidFill>
                <a:latin typeface="Calibri"/>
              </a:rPr>
              <a:t>— линии, фигуры и размеры, как в CAD</a:t>
            </a:r>
          </a:p>
        </p:txBody>
      </p:sp>
      <p:pic>
        <p:nvPicPr>
          <p:cNvPr id="104" name="demo1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3647" y="4330000"/>
            <a:ext cx="2764705" cy="1900000"/>
          </a:xfrm>
          <a:prstGeom prst="rect">
            <a:avLst/>
          </a:prstGeom>
        </p:spPr>
      </p:pic>
      <p:sp>
        <p:nvSpPr>
          <p:cNvPr id="105" name="lab105"/>
          <p:cNvSpPr/>
          <p:nvPr/>
        </p:nvSpPr>
        <p:spPr>
          <a:xfrm>
            <a:off x="2846000" y="627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ru-RU" sz="1150" b="1" dirty="0">
                <a:solidFill>
                  <a:srgbClr val="6D28D9"/>
                </a:solidFill>
                <a:latin typeface="Calibri"/>
              </a:rPr>
              <a:t>3D-фигуры </a:t>
            </a:r>
            <a:r>
              <a:rPr lang="ru-RU" sz="1150" dirty="0">
                <a:solidFill>
                  <a:srgbClr val="1E1B4B"/>
                </a:solidFill>
                <a:latin typeface="Calibri"/>
              </a:rPr>
              <a:t>— построй объёмную фигуру и вращай её</a:t>
            </a:r>
          </a:p>
        </p:txBody>
      </p:sp>
      <p:pic>
        <p:nvPicPr>
          <p:cNvPr id="106" name="demo10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7401" y="4330000"/>
            <a:ext cx="2937198" cy="1900000"/>
          </a:xfrm>
          <a:prstGeom prst="rect">
            <a:avLst/>
          </a:prstGeom>
        </p:spPr>
      </p:pic>
      <p:sp>
        <p:nvSpPr>
          <p:cNvPr id="107" name="lab107"/>
          <p:cNvSpPr/>
          <p:nvPr/>
        </p:nvSpPr>
        <p:spPr>
          <a:xfrm>
            <a:off x="6346000" y="6270000"/>
            <a:ext cx="3000000" cy="30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ru-RU" sz="1150" b="1" dirty="0">
                <a:solidFill>
                  <a:srgbClr val="6D28D9"/>
                </a:solidFill>
                <a:latin typeface="Calibri"/>
              </a:rPr>
              <a:t>Теоремы и формулы </a:t>
            </a:r>
            <a:r>
              <a:rPr lang="ru-RU" sz="1150" dirty="0">
                <a:solidFill>
                  <a:srgbClr val="1E1B4B"/>
                </a:solidFill>
                <a:latin typeface="Calibri"/>
              </a:rPr>
              <a:t>— 33 темы, к каждой свой чертёж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3891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3167" y="384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475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АНАЛИЗ АНАЛОГОВ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412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Чем Lemma отличается от аналогов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10911535" cy="841248"/>
          </a:xfrm>
          <a:prstGeom prst="roundRect">
            <a:avLst>
              <a:gd name="adj" fmla="val 7609"/>
            </a:avLst>
          </a:prstGeom>
          <a:solidFill>
            <a:srgbClr val="1E1B4B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103120"/>
            <a:ext cx="2103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017520" y="2103120"/>
            <a:ext cx="142234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Пошаговое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439869" y="2103120"/>
            <a:ext cx="142234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Геометрия,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доказательства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62218" y="2103120"/>
            <a:ext cx="142234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/ 3D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черчение (CAD)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284568" y="2103120"/>
            <a:ext cx="142234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теоремы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706917" y="2103120"/>
            <a:ext cx="142234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понимать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10129266" y="2103120"/>
            <a:ext cx="142234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7–12 кл.,</a:t>
            </a:r>
            <a:endParaRPr lang="en-US" sz="1050" dirty="0"/>
          </a:p>
          <a:p>
            <a:pPr marL="0" indent="0" algn="ctr">
              <a:lnSpc>
                <a:spcPct val="92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языка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017520"/>
            <a:ext cx="10911535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6E9F3"/>
            </a:solidFill>
            <a:prstDash val="solid"/>
          </a:ln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8680" y="301752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Photomath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17520" y="301752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439869" y="301752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862218" y="301752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284568" y="301752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706917" y="301752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129266" y="301752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40080" y="3520440"/>
            <a:ext cx="10911535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6E9F3"/>
            </a:solidFill>
            <a:prstDash val="solid"/>
          </a:ln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868680" y="352044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GeoGebra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017520" y="352044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439869" y="352044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862218" y="352044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284568" y="352044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706917" y="352044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10129266" y="352044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640080" y="4023360"/>
            <a:ext cx="10911535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6E9F3"/>
            </a:solidFill>
            <a:prstDash val="solid"/>
          </a:ln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868680" y="402336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Math Solver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017520" y="402336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4439869" y="402336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5862218" y="402336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7284568" y="402336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8706917" y="402336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10129266" y="402336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Shape 35"/>
          <p:cNvSpPr/>
          <p:nvPr/>
        </p:nvSpPr>
        <p:spPr>
          <a:xfrm>
            <a:off x="640080" y="4526280"/>
            <a:ext cx="10911535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E6E9F3"/>
            </a:solidFill>
            <a:prstDash val="solid"/>
          </a:ln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868680" y="452628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Gauthmath и др.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3017520" y="452628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4439869" y="452628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5862218" y="452628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7284568" y="452628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44" name="Text 41"/>
          <p:cNvSpPr/>
          <p:nvPr/>
        </p:nvSpPr>
        <p:spPr>
          <a:xfrm>
            <a:off x="8706917" y="452628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45" name="Text 42"/>
          <p:cNvSpPr/>
          <p:nvPr/>
        </p:nvSpPr>
        <p:spPr>
          <a:xfrm>
            <a:off x="10129266" y="452628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500" dirty="0"/>
          </a:p>
        </p:txBody>
      </p:sp>
      <p:sp>
        <p:nvSpPr>
          <p:cNvPr id="46" name="Shape 43"/>
          <p:cNvSpPr/>
          <p:nvPr/>
        </p:nvSpPr>
        <p:spPr>
          <a:xfrm>
            <a:off x="640080" y="5029200"/>
            <a:ext cx="10911535" cy="429768"/>
          </a:xfrm>
          <a:prstGeom prst="roundRect">
            <a:avLst>
              <a:gd name="adj" fmla="val 10638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868680" y="5029200"/>
            <a:ext cx="21031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3017520" y="502920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4439869" y="502920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5862218" y="502920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1" name="Text 48"/>
          <p:cNvSpPr/>
          <p:nvPr/>
        </p:nvSpPr>
        <p:spPr>
          <a:xfrm>
            <a:off x="7284568" y="502920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8706917" y="502920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3" name="Text 50"/>
          <p:cNvSpPr/>
          <p:nvPr/>
        </p:nvSpPr>
        <p:spPr>
          <a:xfrm>
            <a:off x="10129266" y="5029200"/>
            <a:ext cx="1422349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54" name="Text 51"/>
          <p:cNvSpPr/>
          <p:nvPr/>
        </p:nvSpPr>
        <p:spPr>
          <a:xfrm>
            <a:off x="64008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120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    </a:t>
            </a:r>
            <a:r>
              <a:rPr lang="en-US" sz="1200" b="1" dirty="0">
                <a:solidFill>
                  <a:srgbClr val="98A1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</a:t>
            </a:r>
            <a:r>
              <a:rPr lang="en-US" sz="120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     </a:t>
            </a:r>
            <a:r>
              <a:rPr lang="en-US" sz="1200" b="1" dirty="0">
                <a:solidFill>
                  <a:srgbClr val="E038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</a:t>
            </a:r>
            <a:r>
              <a:rPr lang="en-US" sz="120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640080" y="5943600"/>
            <a:ext cx="10911535" cy="731520"/>
          </a:xfrm>
          <a:prstGeom prst="roundRect">
            <a:avLst>
              <a:gd name="adj" fmla="val 10000"/>
            </a:avLst>
          </a:prstGeom>
          <a:solidFill>
            <a:srgbClr val="EEF0FB"/>
          </a:solidFill>
          <a:ln w="12700">
            <a:solidFill>
              <a:srgbClr val="D7DBF3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40080" y="5943600"/>
            <a:ext cx="82296" cy="73152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57" name="Text 54"/>
          <p:cNvSpPr/>
          <p:nvPr/>
        </p:nvSpPr>
        <p:spPr>
          <a:xfrm>
            <a:off x="914400" y="5943600"/>
            <a:ext cx="104086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чём выигрывает Lemma:  </a:t>
            </a:r>
            <a:r>
              <a:rPr lang="en-US" sz="1350" dirty="0">
                <a:solidFill>
                  <a:srgbClr val="32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решение, объединяющее ИИ-разбор, настоящий 2D/3D-CAD и учебник теорем — и при этом учит понимать, а не списывать.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3891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3167" y="384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475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КОМУ ЭТО НУЖНО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412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Для учеников, учителей и самостоятельных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40080" y="228600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14400" y="2670048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8" name="Text 5"/>
          <p:cNvSpPr/>
          <p:nvPr/>
        </p:nvSpPr>
        <p:spPr>
          <a:xfrm>
            <a:off x="1188720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Ученики 7–12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88720" y="2852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учатся и понимают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34840" y="228600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09160" y="2670048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2" name="Text 9"/>
          <p:cNvSpPr/>
          <p:nvPr/>
        </p:nvSpPr>
        <p:spPr>
          <a:xfrm>
            <a:off x="4983480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Учителя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983480" y="2852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наглядное пособие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0" y="2286000"/>
            <a:ext cx="35204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503920" y="2670048"/>
            <a:ext cx="146304" cy="146304"/>
          </a:xfrm>
          <a:prstGeom prst="ellipse">
            <a:avLst/>
          </a:prstGeom>
          <a:solidFill>
            <a:srgbClr val="F2B705"/>
          </a:solidFill>
          <a:ln/>
        </p:spPr>
      </p:sp>
      <p:sp>
        <p:nvSpPr>
          <p:cNvPr id="16" name="Text 13"/>
          <p:cNvSpPr/>
          <p:nvPr/>
        </p:nvSpPr>
        <p:spPr>
          <a:xfrm>
            <a:off x="8778240" y="24505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Самоучки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778240" y="2852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в любой момент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40080" y="3703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60120" y="393192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005840" y="44805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2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чертёжные инструменты 2D и 3D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32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Теоремы, формулы и проверка решений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3238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ИИ-решение с собственным ключом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217920" y="370332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0B0A2A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326880" y="399592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РЕКОМЕНДУЕМ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537960" y="3931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6583680" y="4480560"/>
            <a:ext cx="4526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Встроенный ИИ — без своего ключа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E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Безлимитные решения задач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E6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Облачная синхронизация на всех устройствах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669280" cy="5669280"/>
          </a:xfrm>
          <a:prstGeom prst="ellipse">
            <a:avLst/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657600"/>
            <a:ext cx="4572000" cy="4572000"/>
          </a:xfrm>
          <a:prstGeom prst="ellipse">
            <a:avLst/>
          </a:prstGeom>
          <a:solidFill>
            <a:srgbClr val="6D28D9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38360" y="731520"/>
            <a:ext cx="1554480" cy="1325880"/>
          </a:xfrm>
          <a:prstGeom prst="triangle">
            <a:avLst/>
          </a:prstGeom>
          <a:solidFill>
            <a:srgbClr val="FFFFFF">
              <a:alpha val="0"/>
            </a:srgbClr>
          </a:solidFill>
          <a:ln w="31750">
            <a:solidFill>
              <a:srgbClr val="F2B705"/>
            </a:solidFill>
            <a:prstDash val="solid"/>
          </a:ln>
        </p:spPr>
      </p:sp>
      <p:pic>
        <p:nvPicPr>
          <p:cNvPr id="5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8448" y="749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40080" y="2468880"/>
            <a:ext cx="8686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Геометрия — </a:t>
            </a:r>
            <a:r>
              <a:rPr lang="en-US" sz="5000" b="1" dirty="0">
                <a:solidFill>
                  <a:srgbClr val="F2B70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это просто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4008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C8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" y="5029200"/>
            <a:ext cx="82296" cy="100584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github.com/Andi2010p/Lemm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60720" y="5029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ПОЧТА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760720" y="5303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lemmaofficial13@gmail.com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0080" y="6172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E8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ваши вопросы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user/AppData/Local/Temp/claude/d--Code-App-Lemma/b38f51bd-7d9d-49a0-8a1c-6c4ec3fef80f/scratchpad/deckbuild/assets/lemma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5967" y="438912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53167" y="384048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Lemma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640080" y="47548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ЖЮРИ · СКРЫТЫЙ СЛАЙД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841248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300" b="1" dirty="0" err="1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Тестовые</a:t>
            </a:r>
            <a:r>
              <a:rPr lang="en-US" sz="3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300" b="1" dirty="0" err="1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аккаунты</a:t>
            </a:r>
            <a:r>
              <a:rPr lang="en-US" sz="33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</a:t>
            </a:r>
            <a:r>
              <a:rPr lang="ru-RU" sz="3300" b="1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гостевой режим</a:t>
            </a:r>
            <a:r>
              <a:rPr lang="en-US" sz="3300" b="1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640080" y="1965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2E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в приложение — по email и паролю или через Google: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69748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697480"/>
            <a:ext cx="82296" cy="9144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43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ЭЛЕКТРОННАЯ ПОЧТА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0120" y="309981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‹innovationcampus26@gmail.com›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388620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5F0"/>
            </a:solidFill>
            <a:prstDash val="solid"/>
          </a:ln>
          <a:effectLst>
            <a:outerShdw blurRad="76200" dist="25400" dir="5400000" algn="bl" rotWithShape="0">
              <a:srgbClr val="0B0A2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" y="3886200"/>
            <a:ext cx="82296" cy="914400"/>
          </a:xfrm>
          <a:prstGeom prst="rect">
            <a:avLst/>
          </a:prstGeom>
          <a:solidFill>
            <a:srgbClr val="F2B705"/>
          </a:solidFill>
          <a:ln/>
        </p:spPr>
      </p:sp>
      <p:sp>
        <p:nvSpPr>
          <p:cNvPr id="13" name="Text 10"/>
          <p:cNvSpPr/>
          <p:nvPr/>
        </p:nvSpPr>
        <p:spPr>
          <a:xfrm>
            <a:off x="960120" y="4032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A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ПАРОЛЬ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0120" y="4288536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1B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&lt;Samsung2026›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0080" y="520293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 err="1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1300" i="1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(Firebase) </a:t>
            </a:r>
            <a:r>
              <a:rPr lang="en-US" sz="1300" i="1" dirty="0" err="1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</a:t>
            </a:r>
            <a:r>
              <a:rPr lang="en-US" sz="1300" i="1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r>
              <a:rPr lang="en-US" sz="1300" i="1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конца</a:t>
            </a:r>
            <a:r>
              <a:rPr lang="en-US" sz="1300" i="1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i="1" dirty="0" err="1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конкурса</a:t>
            </a:r>
            <a:r>
              <a:rPr lang="en-US" sz="1300" i="1" dirty="0">
                <a:solidFill>
                  <a:srgbClr val="595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1420</TotalTime>
  <Words>444</Words>
  <Application>Microsoft Office PowerPoint</Application>
  <PresentationFormat>Широкоэкранный</PresentationFormat>
  <Paragraphs>145</Paragraphs>
  <Slides>8</Slides>
  <Notes>8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Lemma — презентация</dc:title>
  <dc:subject>PptxGenJS Presentation</dc:subject>
  <dc:creator>Lemma</dc:creator>
  <cp:lastModifiedBy>Андраник Хуршудян</cp:lastModifiedBy>
  <cp:revision>11</cp:revision>
  <dcterms:created xsi:type="dcterms:W3CDTF">2026-06-28T22:11:00Z</dcterms:created>
  <dcterms:modified xsi:type="dcterms:W3CDTF">2026-06-30T15:53:03Z</dcterms:modified>
</cp:coreProperties>
</file>